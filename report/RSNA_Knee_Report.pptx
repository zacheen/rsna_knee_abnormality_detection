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41d684f1-01c2-ed85-bfc8-b03f43427402}">
          <p14:sldIdLst>
            <p14:sldId id="256"/>
          </p14:sldIdLst>
        </p14:section>
        <p14:section name="題目" id="{1719c86b-0508-3fda-6ad3-9f3d9db3d3a7}">
          <p14:sldIdLst>
            <p14:sldId id="257"/>
          </p14:sldIdLst>
        </p14:section>
        <p14:section name="做法" id="{fe170f40-b375-bcc3-7539-a92173c9ccdd}">
          <p14:sldIdLst>
            <p14:sldId id="258"/>
          </p14:sldIdLst>
        </p14:section>
        <p14:section name="標籤" id="{16523c9a-a4ed-de95-d0dd-60439cfd7892}">
          <p14:sldIdLst>
            <p14:sldId id="259"/>
          </p14:sldIdLst>
        </p14:section>
        <p14:section name="模型" id="{0d5441c0-acac-33ca-486a-cdbbeb220dba}">
          <p14:sldIdLst>
            <p14:sldId id="260"/>
            <p14:sldId id="261"/>
          </p14:sldIdLst>
        </p14:section>
        <p14:section name="Ensemble" id="{035b26a0-81fc-c8b2-4847-da4c788dd752}">
          <p14:sldIdLst>
            <p14:sldId id="262"/>
            <p14:sldId id="263"/>
          </p14:sldIdLst>
        </p14:section>
        <p14:section name="矛盾" id="{955a9261-8fc2-3ba6-f260-54d777627f1a}">
          <p14:sldIdLst>
            <p14:sldId id="264"/>
            <p14:sldId id="265"/>
          </p14:sldIdLst>
        </p14:section>
        <p14:section name="結論" id="{d3b402ca-3669-3a7d-3956-13d2ff044a52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A465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A4652"/>
                </a:solidFill>
                <a:latin typeface="+mn-lt"/>
              </a:rPr>
              <a:t>和醫師判讀的一致程度（調 prompt 時沒看過的 29 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AUC</c:v>
                </c:pt>
              </c:strCache>
            </c:strRef>
          </c:tx>
          <c:spPr>
            <a:solidFill>
              <a:srgbClr val="8A96A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0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8E9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8E9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關鍵字規則</c:v>
                  </c:pt>
                  <c:pt idx="1">
                    <c:v>v1 三態</c:v>
                  </c:pt>
                  <c:pt idx="2">
                    <c:v>v2 機率</c:v>
                  </c:pt>
                  <c:pt idx="3">
                    <c:v>v3 加細則</c:v>
                  </c:pt>
                  <c:pt idx="4">
                    <c:v>v2s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0.6496</c:v>
                </c:pt>
                <c:pt idx="1">
                  <c:v>0.7471</c:v>
                </c:pt>
                <c:pt idx="2">
                  <c:v>0.8065</c:v>
                </c:pt>
                <c:pt idx="3">
                  <c:v>0.8285</c:v>
                </c:pt>
                <c:pt idx="4">
                  <c:v>0.8262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B20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46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6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A465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A4652"/>
                </a:solidFill>
                <a:latin typeface="+mn-lt"/>
              </a:rPr>
              <a:t>公開排行榜分數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LB</c:v>
                </c:pt>
              </c:strCache>
            </c:strRef>
          </c:tx>
          <c:spPr>
            <a:solidFill>
              <a:srgbClr val="8A96A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0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8E9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E8E9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E8E9E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KneeNet</c:v>
                  </c:pt>
                  <c:pt idx="1">
                    <c:v>加 depth-conv</c:v>
                  </c:pt>
                  <c:pt idx="2">
                    <c:v>十成員</c:v>
                  </c:pt>
                  <c:pt idx="3">
                    <c:v>WindowNet</c:v>
                  </c:pt>
                  <c:pt idx="4">
                    <c:v>加 b0</c:v>
                  </c:pt>
                  <c:pt idx="5">
                    <c:v>只留 effnet</c:v>
                  </c:pt>
                  <c:pt idx="6">
                    <c:v>加新家族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0.882</c:v>
                </c:pt>
                <c:pt idx="1">
                  <c:v>0.888</c:v>
                </c:pt>
                <c:pt idx="2">
                  <c:v>0.893</c:v>
                </c:pt>
                <c:pt idx="3">
                  <c:v>0.939</c:v>
                </c:pt>
                <c:pt idx="4">
                  <c:v>0.942</c:v>
                </c:pt>
                <c:pt idx="5">
                  <c:v>0.943</c:v>
                </c:pt>
                <c:pt idx="6">
                  <c:v>0.944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B20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6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.86"/>
        </c:scaling>
        <c:delete val="0"/>
        <c:axPos val="l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6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LB</c:v>
                </c:pt>
              </c:strCache>
            </c:strRef>
          </c:tx>
          <c:spPr>
            <a:solidFill>
              <a:srgbClr val="8A96A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02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6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82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E8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5 個 efficientnet</c:v>
                  </c:pt>
                  <c:pt idx="1">
                    <c:v>4 個 effv2 加 1 個 convnext</c:v>
                  </c:pt>
                  <c:pt idx="2">
                    <c:v>兩組合起來，10 個</c:v>
                  </c:pt>
                  <c:pt idx="3">
                    <c:v>再加 6 個 seed，16 個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0.943</c:v>
                </c:pt>
                <c:pt idx="1">
                  <c:v>0.942</c:v>
                </c:pt>
                <c:pt idx="2">
                  <c:v>0.944</c:v>
                </c:pt>
                <c:pt idx="3">
                  <c:v>0.944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400" u="none">
                  <a:solidFill>
                    <a:srgbClr val="1B202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46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46"/>
          <c:min val="0.938"/>
        </c:scaling>
        <c:delete val="0"/>
        <c:axPos val="b"/>
        <c:majorGridlines>
          <c:spPr>
            <a:ln w="6350" cap="flat">
              <a:solidFill>
                <a:srgbClr val="E3E7EB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6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0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這次比賽要從膝關節 MRI 預測 12 種異常。最後的成績是公開排行榜 0.944，沒有用外部資料，也沒有用別人訓練好的權重。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最大的難處是標註。4,407 筆裡只有 58 筆有醫師看影像標的答案，其他只能從報告文字推。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整條流程分四步。標籤在本機用 LLM 產生，影像在 Kaggle 上轉成 cache，訓練分散到三個地方，最後在 Kaggle 提交。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左邊是沒用來調 prompt 的那 29 筆，分數比較可信。從三態改成依嚴重程度分級的機率，一次進步 0.06。右邊是再和公開標籤平均之後的結果。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灰色是舊架構 KneeNet，橘色是換成 WindowNet 的那一次，綠色是之後的微調。最大的進步來自輸入設計，不是模型本身。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這三個決定是同時改的，所以 0.046 的進步沒辦法拆成各自的貢獻。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兩組各自是 0.943 和 0.942，合起來 0.944。同一個配方多加 6 個 seed，分數完全不變。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單模型的基準是 W8 單獨的 0.938。這些方法有些在其他比賽或舊架構上有效，在這裡都持平或變差。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58 筆太少。W39 的 0.9301 是運氣，同一個設定換 seed 平均只有 0.913。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這四點都是報告裡可以延伸研究的方向，細節在 COURSE_REPORT_zh.md 第 2 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最後一點最重要。在截止前做得完的方向都試過了，要突破需要的是更大的投入，而不是更多小調整。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RSNA Knee Abnormality Detection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1B2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RSNA 膝關節 MRI 異常偵測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只靠報告文字當標籤，做到公開排行榜 0.944</a:t>
            </a:r>
            <a:endParaRPr lang="en-US" sz="2000" dirty="0"/>
          </a:p>
        </p:txBody>
      </p:sp>
      <p:sp>
        <p:nvSpPr>
          <p:cNvPr id="4" name="Motif1"/>
          <p:cNvSpPr/>
          <p:nvPr/>
        </p:nvSpPr>
        <p:spPr>
          <a:xfrm>
            <a:off x="731520" y="1097280"/>
            <a:ext cx="320040" cy="3200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Motif2"/>
          <p:cNvSpPr/>
          <p:nvPr/>
        </p:nvSpPr>
        <p:spPr>
          <a:xfrm>
            <a:off x="1143000" y="1097280"/>
            <a:ext cx="320040" cy="3200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Motif3"/>
          <p:cNvSpPr/>
          <p:nvPr/>
        </p:nvSpPr>
        <p:spPr>
          <a:xfrm>
            <a:off x="1554480" y="1097280"/>
            <a:ext cx="320040" cy="3200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課程報告，2026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影像標註幾乎沒有，資料卻有 570 GB</a:t>
            </a:r>
            <a:endParaRPr lang="en-US" sz="3000" dirty="0"/>
          </a:p>
        </p:txBody>
      </p:sp>
      <p:sp>
        <p:nvSpPr>
          <p:cNvPr id="3" name="StatCard1"/>
          <p:cNvSpPr/>
          <p:nvPr/>
        </p:nvSpPr>
        <p:spPr>
          <a:xfrm>
            <a:off x="548640" y="164592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4,407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筆訓練研究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每筆是一次膝關節 MRI，平均 5.5 個序列</a:t>
            </a:r>
            <a:endParaRPr lang="en-US" sz="1400" dirty="0"/>
          </a:p>
        </p:txBody>
      </p:sp>
      <p:sp>
        <p:nvSpPr>
          <p:cNvPr id="7" name="StatCard2"/>
          <p:cNvSpPr/>
          <p:nvPr/>
        </p:nvSpPr>
        <p:spPr>
          <a:xfrm>
            <a:off x="3383280" y="164592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58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筆有醫師標註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其餘 4,349 筆只有放射科報告的文字</a:t>
            </a:r>
            <a:endParaRPr lang="en-US" sz="1400" dirty="0"/>
          </a:p>
        </p:txBody>
      </p:sp>
      <p:sp>
        <p:nvSpPr>
          <p:cNvPr id="11" name="StatCard3"/>
          <p:cNvSpPr/>
          <p:nvPr/>
        </p:nvSpPr>
        <p:spPr>
          <a:xfrm>
            <a:off x="6217920" y="164592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12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種異常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評分是 12 個 AUC 的平均</a:t>
            </a:r>
            <a:endParaRPr lang="en-US" sz="1400" dirty="0"/>
          </a:p>
        </p:txBody>
      </p:sp>
      <p:sp>
        <p:nvSpPr>
          <p:cNvPr id="15" name="StatCard4"/>
          <p:cNvSpPr/>
          <p:nvPr/>
        </p:nvSpPr>
        <p:spPr>
          <a:xfrm>
            <a:off x="9052560" y="1645920"/>
            <a:ext cx="2606040" cy="2697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26880" y="1920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9 小時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971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離線推論上限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5204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約 1,300 筆 test，不能連網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報告是多語言的，英文約佔一半，另有希臘文 321 份、西里爾字母 220 份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四步流程，從報告到提交</a:t>
            </a:r>
            <a:endParaRPr lang="en-US" sz="3000" dirty="0"/>
          </a:p>
        </p:txBody>
      </p:sp>
      <p:sp>
        <p:nvSpPr>
          <p:cNvPr id="3" name="StepCard1"/>
          <p:cNvSpPr/>
          <p:nvPr/>
        </p:nvSpPr>
        <p:spPr>
          <a:xfrm>
            <a:off x="548640" y="173736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StepDot1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報告變標籤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LLM 讀每份報告，12 種異常各給 0 到 1 的機率，沒提到的不計入訓練</a:t>
            </a:r>
            <a:endParaRPr lang="en-US" sz="1400" dirty="0"/>
          </a:p>
        </p:txBody>
      </p:sp>
      <p:sp>
        <p:nvSpPr>
          <p:cNvPr id="8" name="StepArrow1"/>
          <p:cNvSpPr/>
          <p:nvPr/>
        </p:nvSpPr>
        <p:spPr>
          <a:xfrm>
            <a:off x="3108960" y="3383280"/>
            <a:ext cx="228600" cy="32004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9" name="StepCard2"/>
          <p:cNvSpPr/>
          <p:nvPr/>
        </p:nvSpPr>
        <p:spPr>
          <a:xfrm>
            <a:off x="3383280" y="173736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StepDot2"/>
          <p:cNvSpPr/>
          <p:nvPr/>
        </p:nvSpPr>
        <p:spPr>
          <a:xfrm>
            <a:off x="3657600" y="2011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影像壓成 cache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337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在 Kaggle CPU 上挑序列、依實際尺寸裁切、縮成固定大小，約 40 GB</a:t>
            </a:r>
            <a:endParaRPr lang="en-US" sz="1400" dirty="0"/>
          </a:p>
        </p:txBody>
      </p:sp>
      <p:sp>
        <p:nvSpPr>
          <p:cNvPr id="14" name="StepArrow2"/>
          <p:cNvSpPr/>
          <p:nvPr/>
        </p:nvSpPr>
        <p:spPr>
          <a:xfrm>
            <a:off x="5943600" y="3383280"/>
            <a:ext cx="228600" cy="32004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StepCard3"/>
          <p:cNvSpPr/>
          <p:nvPr/>
        </p:nvSpPr>
        <p:spPr>
          <a:xfrm>
            <a:off x="6217920" y="173736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6" name="StepDot3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訓練模型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337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4,349 筆報告標籤訓練，58 筆醫師標註驗證，分散在 Kaggle、Colab 與本機</a:t>
            </a:r>
            <a:endParaRPr lang="en-US" sz="1400" dirty="0"/>
          </a:p>
        </p:txBody>
      </p:sp>
      <p:sp>
        <p:nvSpPr>
          <p:cNvPr id="20" name="StepArrow3"/>
          <p:cNvSpPr/>
          <p:nvPr/>
        </p:nvSpPr>
        <p:spPr>
          <a:xfrm>
            <a:off x="8778240" y="3383280"/>
            <a:ext cx="228600" cy="32004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1" name="StepCard4"/>
          <p:cNvSpPr/>
          <p:nvPr/>
        </p:nvSpPr>
        <p:spPr>
          <a:xfrm>
            <a:off x="9052560" y="173736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2" name="StepDot4"/>
          <p:cNvSpPr/>
          <p:nvPr/>
        </p:nvSpPr>
        <p:spPr>
          <a:xfrm>
            <a:off x="9326880" y="20116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推論與提交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33756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多個模型的預測取平均，在 Kaggle notebook 裡 9 小時內完成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把報告變成機率，是標籤上最大的一步</a:t>
            </a:r>
            <a:endParaRPr lang="en-US" sz="3000" dirty="0"/>
          </a:p>
        </p:txBody>
      </p:sp>
      <p:graphicFrame>
        <p:nvGraphicFramePr>
          <p:cNvPr id="3" name="LabelChart" descr=""/>
          <p:cNvGraphicFramePr/>
          <p:nvPr/>
        </p:nvGraphicFramePr>
        <p:xfrm>
          <a:off x="548640" y="137160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LabelNote"/>
          <p:cNvSpPr/>
          <p:nvPr/>
        </p:nvSpPr>
        <p:spPr>
          <a:xfrm>
            <a:off x="7680960" y="1554480"/>
            <a:ext cx="3931920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01000" y="1828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0.8923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743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混合標籤在全部 58 筆上的分數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329184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v2s 和 7 組公開標籤逐格取平均，從 0.8655 升到 0.8923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不同來源的錯誤有一部分互相抵消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報告和醫師看影像本來就不完全一致，積液最明顯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換成 WindowNet，是整場比賽最大的一次跳躍</a:t>
            </a:r>
            <a:endParaRPr lang="en-US" sz="3000" dirty="0"/>
          </a:p>
        </p:txBody>
      </p:sp>
      <p:graphicFrame>
        <p:nvGraphicFramePr>
          <p:cNvPr id="3" name="LbChart" descr=""/>
          <p:cNvGraphicFramePr/>
          <p:nvPr/>
        </p:nvGraphicFramePr>
        <p:xfrm>
          <a:off x="548640" y="1371600"/>
          <a:ext cx="7863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JumpNote"/>
          <p:cNvSpPr/>
          <p:nvPr/>
        </p:nvSpPr>
        <p:spPr>
          <a:xfrm>
            <a:off x="8778240" y="1554480"/>
            <a:ext cx="2834640" cy="31089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05256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+0.046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052560" y="2743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0.893 到 0.939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05256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之後所有改進加起來只多 0.005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WindowNet 的關鍵在輸入怎麼建構</a:t>
            </a:r>
            <a:endParaRPr lang="en-US" sz="3000" dirty="0"/>
          </a:p>
        </p:txBody>
      </p:sp>
      <p:sp>
        <p:nvSpPr>
          <p:cNvPr id="3" name="IdeaCard1"/>
          <p:cNvSpPr/>
          <p:nvPr/>
        </p:nvSpPr>
        <p:spPr>
          <a:xfrm>
            <a:off x="548640" y="1554480"/>
            <a:ext cx="6949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IdeaDot1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17373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 個序列，各 20 張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21284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每個切面除了 fat-suppressed 序列，也加入非 fat-suppressed 序列</a:t>
            </a:r>
            <a:endParaRPr lang="en-US" sz="1400" dirty="0"/>
          </a:p>
        </p:txBody>
      </p:sp>
      <p:sp>
        <p:nvSpPr>
          <p:cNvPr id="7" name="IdeaCard2"/>
          <p:cNvSpPr/>
          <p:nvPr/>
        </p:nvSpPr>
        <p:spPr>
          <a:xfrm>
            <a:off x="548640" y="3063240"/>
            <a:ext cx="6949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IdeaDot2"/>
          <p:cNvSpPr/>
          <p:nvPr/>
        </p:nvSpPr>
        <p:spPr>
          <a:xfrm>
            <a:off x="822960" y="34290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645920" y="32461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依實際尺寸裁 128 mm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37216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用 DICOM 的像素間距裁出膝關節周圍，再縮成 320 px，每張影像尺度一致</a:t>
            </a:r>
            <a:endParaRPr lang="en-US" sz="1400" dirty="0"/>
          </a:p>
        </p:txBody>
      </p:sp>
      <p:sp>
        <p:nvSpPr>
          <p:cNvPr id="11" name="IdeaCard3"/>
          <p:cNvSpPr/>
          <p:nvPr/>
        </p:nvSpPr>
        <p:spPr>
          <a:xfrm>
            <a:off x="548640" y="4572000"/>
            <a:ext cx="6949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IdeaDot3"/>
          <p:cNvSpPr/>
          <p:nvPr/>
        </p:nvSpPr>
        <p:spPr>
          <a:xfrm>
            <a:off x="822960" y="4937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645920" y="4754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相鄰 3 張疊成彩色圖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523036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讓 ImageNet 預訓練的 2D 模型也看得到一點深度，每種異常各有一組 attention</a:t>
            </a:r>
            <a:endParaRPr lang="en-US" sz="1400" dirty="0"/>
          </a:p>
        </p:txBody>
      </p:sp>
      <p:sp>
        <p:nvSpPr>
          <p:cNvPr id="15" name="Slice1"/>
          <p:cNvSpPr/>
          <p:nvPr/>
        </p:nvSpPr>
        <p:spPr>
          <a:xfrm>
            <a:off x="8138160" y="1828800"/>
            <a:ext cx="1554480" cy="1554480"/>
          </a:xfrm>
          <a:prstGeom prst="rect">
            <a:avLst/>
          </a:prstGeom>
          <a:solidFill>
            <a:srgbClr val="B54A3A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lice2"/>
          <p:cNvSpPr/>
          <p:nvPr/>
        </p:nvSpPr>
        <p:spPr>
          <a:xfrm>
            <a:off x="8458200" y="2148840"/>
            <a:ext cx="1554480" cy="1554480"/>
          </a:xfrm>
          <a:prstGeom prst="rect">
            <a:avLst/>
          </a:prstGeom>
          <a:solidFill>
            <a:srgbClr val="A3B86C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lice3"/>
          <p:cNvSpPr/>
          <p:nvPr/>
        </p:nvSpPr>
        <p:spPr>
          <a:xfrm>
            <a:off x="8778240" y="2468880"/>
            <a:ext cx="1554480" cy="1554480"/>
          </a:xfrm>
          <a:prstGeom prst="rect">
            <a:avLst/>
          </a:prstGeom>
          <a:solidFill>
            <a:srgbClr val="3E8E9E">
              <a:alpha val="7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MergeArrow"/>
          <p:cNvSpPr/>
          <p:nvPr/>
        </p:nvSpPr>
        <p:spPr>
          <a:xfrm>
            <a:off x="8869680" y="3931920"/>
            <a:ext cx="457200" cy="54864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19" name="RgbWindow"/>
          <p:cNvSpPr/>
          <p:nvPr/>
        </p:nvSpPr>
        <p:spPr>
          <a:xfrm>
            <a:off x="8412480" y="4617720"/>
            <a:ext cx="1371600" cy="1097280"/>
          </a:xfrm>
          <a:prstGeom prst="roundRect">
            <a:avLst>
              <a:gd name="adj" fmla="val 8333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966960" y="4937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一張 RGB window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0" y="21031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相鄰 3 張切片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多樣性來自不同模型家族，不是多跑 seed</a:t>
            </a:r>
            <a:endParaRPr lang="en-US" sz="3000" dirty="0"/>
          </a:p>
        </p:txBody>
      </p:sp>
      <p:graphicFrame>
        <p:nvGraphicFramePr>
          <p:cNvPr id="3" name="EnsChart" descr=""/>
          <p:cNvGraphicFramePr/>
          <p:nvPr/>
        </p:nvGraphicFramePr>
        <p:xfrm>
          <a:off x="548640" y="137160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nsNote"/>
          <p:cNvSpPr/>
          <p:nvPr/>
        </p:nvSpPr>
        <p:spPr>
          <a:xfrm>
            <a:off x="8412480" y="1554480"/>
            <a:ext cx="3200400" cy="393192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0.944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743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之後再也沒動過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32918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16 個成員、混入其他切法、混入整張畫面的版本，都是 0.944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混入舊架構或 160 mm 裁切反而降到 0.942 到 0.943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試過但沒有超過 0.944 的方法</a:t>
            </a:r>
            <a:endParaRPr lang="en-US" sz="3000" dirty="0"/>
          </a:p>
        </p:txBody>
      </p:sp>
      <p:graphicFrame>
        <p:nvGraphicFramePr>
          <p:cNvPr id="9" name="Fail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502920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類別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嘗試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結果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標籤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五折 OOF 偽標籤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單模型 0.937，基準 0.938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標籤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硬標籤，以 0.5 為門檻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GT 0.8994，基準 0.9159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架構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每個序列內加 1D 卷積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單模型 0.935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架構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attention dropout 0.2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單模型 0.934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骨幹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resnet34、b1、b2、regnety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0.920，或發散成 NaN，或沒有比 b0 好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輸入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放大到 384、160 mm 裁切、3 序列各 32 張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沒有變好，混進 ensemble 是 0.943 到 0.944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訓練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18 個 epoch、batch 16、每步多看 window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GT 上都沒有變好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58 筆 GT 的排名，和排行榜對不上</a:t>
            </a:r>
            <a:endParaRPr lang="en-US" sz="3000" dirty="0"/>
          </a:p>
        </p:txBody>
      </p:sp>
      <p:graphicFrame>
        <p:nvGraphicFramePr>
          <p:cNvPr id="10" name="G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單模型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GT 58 筆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排行榜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6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9822B"/>
                          </a:solidFill>
                        </a:rPr>
                        <a:t>W39 整張畫面 effv2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9822B"/>
                          </a:solidFill>
                        </a:rPr>
                        <a:t>0.9301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D9822B"/>
                          </a:solidFill>
                        </a:rPr>
                        <a:t>0.931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P3 OOF 偽標籤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0.9164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0.937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W8 efficientnet_b0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0.9159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0.938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P1 偽標籤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0.9136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0.939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W47 attention dropout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0.9129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0.934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W46 depth-conv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0.9109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026"/>
                          </a:solidFill>
                        </a:rPr>
                        <a:t>0.935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GtNote"/>
          <p:cNvSpPr/>
          <p:nvPr/>
        </p:nvSpPr>
        <p:spPr>
          <a:xfrm>
            <a:off x="7863840" y="1463040"/>
            <a:ext cx="3749040" cy="384048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13816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±0.02 到 0.04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同一個設定只換 seed 的差距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10896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W39 在 GT 上最高，排行榜上卻比 b0 低 0.007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同設定換 4 個 seed，最高 0.9301，最低 0.9026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重要決定最後都靠排行榜探測做出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其他值得日後研究的矛盾</a:t>
            </a:r>
            <a:endParaRPr lang="en-US" sz="3000" dirty="0"/>
          </a:p>
        </p:txBody>
      </p:sp>
      <p:sp>
        <p:nvSpPr>
          <p:cNvPr id="3" name="ContraCard1"/>
          <p:cNvSpPr/>
          <p:nvPr/>
        </p:nvSpPr>
        <p:spPr>
          <a:xfrm>
            <a:off x="548640" y="164592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4" name="ContraDot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874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標籤變好了，但量不出模型有沒有變好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5146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標籤品質從 0.8655 升到 0.8923，模型差距在雜訊內，兩種架構方向還相反</a:t>
            </a:r>
            <a:endParaRPr lang="en-US" sz="1400" dirty="0"/>
          </a:p>
        </p:txBody>
      </p:sp>
      <p:sp>
        <p:nvSpPr>
          <p:cNvPr id="7" name="ContraCard2"/>
          <p:cNvSpPr/>
          <p:nvPr/>
        </p:nvSpPr>
        <p:spPr>
          <a:xfrm>
            <a:off x="6172200" y="164592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8" name="ContraDot2"/>
          <p:cNvSpPr/>
          <p:nvPr/>
        </p:nvSpPr>
        <p:spPr>
          <a:xfrm>
            <a:off x="6446520" y="192024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0" y="18745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偽標籤的理論和結果相反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5146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理論上 OOF 偽標籤比較好，實際 OOF 0.937，in-sample 0.939，都在雜訊內</a:t>
            </a:r>
            <a:endParaRPr lang="en-US" sz="1400" dirty="0"/>
          </a:p>
        </p:txBody>
      </p:sp>
      <p:sp>
        <p:nvSpPr>
          <p:cNvPr id="11" name="ContraCard3"/>
          <p:cNvSpPr/>
          <p:nvPr/>
        </p:nvSpPr>
        <p:spPr>
          <a:xfrm>
            <a:off x="548640" y="36576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2" name="ContraDot3"/>
          <p:cNvSpPr/>
          <p:nvPr/>
        </p:nvSpPr>
        <p:spPr>
          <a:xfrm>
            <a:off x="822960" y="39319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417320" y="3886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同一個方法在兩種架構上效果相反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262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depth-conv 在 KneeNet 上有幫助，搬到 WindowNet 單模型降到 0.935</a:t>
            </a:r>
            <a:endParaRPr lang="en-US" sz="1400" dirty="0"/>
          </a:p>
        </p:txBody>
      </p:sp>
      <p:sp>
        <p:nvSpPr>
          <p:cNvPr id="15" name="ContraCard4"/>
          <p:cNvSpPr/>
          <p:nvPr/>
        </p:nvSpPr>
        <p:spPr>
          <a:xfrm>
            <a:off x="6172200" y="3657600"/>
            <a:ext cx="544068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6" name="ContraDot4"/>
          <p:cNvSpPr/>
          <p:nvPr/>
        </p:nvSpPr>
        <p:spPr>
          <a:xfrm>
            <a:off x="6446520" y="393192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38862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第三方的消融沒有重現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452628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拿掉非 fat-suppressed 序列、放寬裁切，在我們的資料上都變差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6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結論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0.944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最終公開排行榜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10 個 WindowNet 成員，沒有外部資料</a:t>
            </a:r>
            <a:endParaRPr lang="en-US" sz="1600" dirty="0"/>
          </a:p>
        </p:txBody>
      </p:sp>
      <p:sp>
        <p:nvSpPr>
          <p:cNvPr id="5" name="ConclDot1"/>
          <p:cNvSpPr/>
          <p:nvPr/>
        </p:nvSpPr>
        <p:spPr>
          <a:xfrm>
            <a:off x="5120640" y="157276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0" y="14630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輸入設計比模型重要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9385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0.893 到 0.939 來自輸入，之後所有改進合計 0.005</a:t>
            </a:r>
            <a:endParaRPr lang="en-US" sz="1400" dirty="0"/>
          </a:p>
        </p:txBody>
      </p:sp>
      <p:sp>
        <p:nvSpPr>
          <p:cNvPr id="8" name="ConclDot2"/>
          <p:cNvSpPr/>
          <p:nvPr/>
        </p:nvSpPr>
        <p:spPr>
          <a:xfrm>
            <a:off x="5120640" y="276148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0" y="2651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報告文字可以當弱標籤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12724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只有 58 筆影像標註，LLM 軟標籤也能訓練出 0.94 等級的模型</a:t>
            </a:r>
            <a:endParaRPr lang="en-US" sz="1400" dirty="0"/>
          </a:p>
        </p:txBody>
      </p:sp>
      <p:sp>
        <p:nvSpPr>
          <p:cNvPr id="11" name="ConclDot3"/>
          <p:cNvSpPr/>
          <p:nvPr/>
        </p:nvSpPr>
        <p:spPr>
          <a:xfrm>
            <a:off x="5120640" y="3950208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3840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小驗證集會誤導決策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431596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GT 58 筆的排名多次和排行榜相反</a:t>
            </a:r>
            <a:endParaRPr lang="en-US" sz="1400" dirty="0"/>
          </a:p>
        </p:txBody>
      </p:sp>
      <p:sp>
        <p:nvSpPr>
          <p:cNvPr id="14" name="ConclDot4"/>
          <p:cNvSpPr/>
          <p:nvPr/>
        </p:nvSpPr>
        <p:spPr>
          <a:xfrm>
            <a:off x="5120640" y="5138928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0" y="5029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0.944 可能是這條路的上限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55046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再往上需要更大的骨幹、外部資料或更好的標籤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SNA Knee">
  <a:themeElements>
    <a:clrScheme name="RSNA Knee">
      <a:dk1>
        <a:srgbClr val="1B2026"/>
      </a:dk1>
      <a:lt1>
        <a:srgbClr val="FFFFFF"/>
      </a:lt1>
      <a:dk2>
        <a:srgbClr val="3A4652"/>
      </a:dk2>
      <a:lt2>
        <a:srgbClr val="EEF1F4"/>
      </a:lt2>
      <a:accent1>
        <a:srgbClr val="D9822B"/>
      </a:accent1>
      <a:accent2>
        <a:srgbClr val="3E8E9E"/>
      </a:accent2>
      <a:accent3>
        <a:srgbClr val="8A96A3"/>
      </a:accent3>
      <a:accent4>
        <a:srgbClr val="B54A3A"/>
      </a:accent4>
      <a:accent5>
        <a:srgbClr val="5C6B7A"/>
      </a:accent5>
      <a:accent6>
        <a:srgbClr val="A3B86C"/>
      </a:accent6>
      <a:hlink>
        <a:srgbClr val="3E8E9E"/>
      </a:hlink>
      <a:folHlink>
        <a:srgbClr val="8A96A3"/>
      </a:folHlink>
    </a:clrScheme>
    <a:fontScheme name="RSNA Kne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RSNA 膝關節 MRI 異常偵測</dc:title>
  <dc:subject>PptxGenJS Presentation</dc:subject>
  <dc:creator>PptxGenJS</dc:creator>
  <cp:lastModifiedBy>PptxGenJS</cp:lastModifiedBy>
  <cp:revision>1</cp:revision>
  <dcterms:created xsi:type="dcterms:W3CDTF">2026-10-21T22:46:44Z</dcterms:created>
  <dcterms:modified xsi:type="dcterms:W3CDTF">2026-10-21T22:46:44Z</dcterms:modified>
</cp:coreProperties>
</file>